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5" r:id="rId7"/>
    <p:sldId id="264" r:id="rId8"/>
    <p:sldId id="266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2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4291" y="2606039"/>
            <a:ext cx="2759710" cy="368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6314" y="1330226"/>
            <a:ext cx="9877203" cy="1835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48617" y="1622047"/>
            <a:ext cx="8724900" cy="1543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body" idx="1"/>
          </p:nvPr>
        </p:nvSpPr>
        <p:spPr>
          <a:xfrm>
            <a:off x="1371600" y="1676400"/>
            <a:ext cx="8724900" cy="1470660"/>
          </a:xfrm>
          <a:prstGeom prst="rect">
            <a:avLst/>
          </a:prstGeom>
        </p:spPr>
        <p:txBody>
          <a:bodyPr vert="horz" wrap="square" lIns="0" tIns="304520" rIns="0" bIns="0" rtlCol="0">
            <a:noAutofit/>
          </a:bodyPr>
          <a:lstStyle/>
          <a:p>
            <a:pPr marL="1151890" marR="958215" algn="ctr">
              <a:lnSpc>
                <a:spcPct val="100000"/>
              </a:lnSpc>
              <a:spcBef>
                <a:spcPts val="675"/>
              </a:spcBef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Comparison Between File-Based Systems and DBMS Using Real-Life Case Studies from Banking and Healthcare</a:t>
            </a:r>
            <a:endParaRPr lang="en-US" altLang="en-US" sz="22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151890" marR="958215" algn="ctr">
              <a:lnSpc>
                <a:spcPct val="100000"/>
              </a:lnSpc>
              <a:spcBef>
                <a:spcPts val="675"/>
              </a:spcBef>
            </a:pP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79021" y="3488308"/>
            <a:ext cx="8304530" cy="1990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lang="en-US" altLang="" sz="1800" dirty="0">
                <a:latin typeface="Times New Roman" panose="02020603050405020304" charset="0"/>
                <a:cs typeface="Times New Roman" panose="02020603050405020304" charset="0"/>
              </a:rPr>
              <a:t>Presented by:</a:t>
            </a:r>
            <a:endParaRPr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lang="en-US" altLang="" sz="1800">
                <a:latin typeface="Times New Roman" panose="02020603050405020304" charset="0"/>
                <a:cs typeface="Times New Roman" panose="02020603050405020304" charset="0"/>
              </a:rPr>
              <a:t>Antony Magrin J(192572103)</a:t>
            </a:r>
            <a:endParaRPr lang="en-US" altLang="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635" algn="ctr">
              <a:lnSpc>
                <a:spcPct val="100000"/>
              </a:lnSpc>
              <a:spcBef>
                <a:spcPts val="100"/>
              </a:spcBef>
            </a:pP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12065" marR="5080" algn="ctr">
              <a:lnSpc>
                <a:spcPct val="100000"/>
              </a:lnSpc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CSA</a:t>
            </a:r>
            <a:r>
              <a:rPr lang="en-US" altLang="" sz="1800" dirty="0">
                <a:latin typeface="Times New Roman" panose="02020603050405020304" charset="0"/>
                <a:cs typeface="Times New Roman" panose="02020603050405020304" charset="0"/>
              </a:rPr>
              <a:t>0506 DATABASE MANAGEMENT SYSTEM </a:t>
            </a:r>
            <a:endParaRPr lang="en-US" altLang="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065" marR="5080" algn="ctr">
              <a:lnSpc>
                <a:spcPct val="100000"/>
              </a:lnSpc>
            </a:pPr>
            <a:r>
              <a:rPr sz="1800" dirty="0">
                <a:latin typeface="Times New Roman" panose="02020603050405020304" charset="0"/>
                <a:cs typeface="Times New Roman" panose="02020603050405020304" charset="0"/>
              </a:rPr>
              <a:t>Date:</a:t>
            </a:r>
            <a:r>
              <a:rPr sz="18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" sz="1800" spc="-25" dirty="0">
                <a:latin typeface="Times New Roman" panose="02020603050405020304" charset="0"/>
                <a:cs typeface="Times New Roman" panose="02020603050405020304" charset="0"/>
              </a:rPr>
              <a:t>21</a:t>
            </a:r>
            <a:r>
              <a:rPr sz="1800" spc="-10" dirty="0">
                <a:latin typeface="Times New Roman" panose="02020603050405020304" charset="0"/>
                <a:cs typeface="Times New Roman" panose="02020603050405020304" charset="0"/>
              </a:rPr>
              <a:t>/0</a:t>
            </a:r>
            <a:r>
              <a:rPr lang="en-US" altLang="" sz="1800" spc="-10" dirty="0">
                <a:latin typeface="Times New Roman" panose="02020603050405020304" charset="0"/>
                <a:cs typeface="Times New Roman" panose="02020603050405020304" charset="0"/>
              </a:rPr>
              <a:t>7</a:t>
            </a:r>
            <a:r>
              <a:rPr sz="1800" spc="-10" dirty="0">
                <a:latin typeface="Times New Roman" panose="02020603050405020304" charset="0"/>
                <a:cs typeface="Times New Roman" panose="02020603050405020304" charset="0"/>
              </a:rPr>
              <a:t>/2026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Technical</a:t>
            </a:r>
            <a:r>
              <a:rPr sz="1800" spc="-15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Presentation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4800" y="465365"/>
            <a:ext cx="11277599" cy="9062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04690" y="1371626"/>
            <a:ext cx="30676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Introduction</a:t>
            </a:r>
            <a:endParaRPr sz="4400"/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1000" y="465365"/>
            <a:ext cx="11277599" cy="906234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45745" y="2352675"/>
            <a:ext cx="569785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70000"/>
              </a:lnSpc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What is a File-Based System?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A file-based system stores data in separate files.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Each department maintains its own files independently.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Data sharing between departments is difficult.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File System: Student details stored in Excel files.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071870" y="2304415"/>
            <a:ext cx="5837555" cy="4354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80000"/>
              </a:lnSpc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What is a DBMS?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A Database Management System (DBMS) is software that stores, organizes, and manages data efficiently.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It allows multiple users to access the same data securely.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DBMS: Student information stored in a centralized college database.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5170" y="1600200"/>
            <a:ext cx="10601960" cy="492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100"/>
              </a:spcBef>
            </a:pPr>
            <a:r>
              <a:rPr lang="en-US" sz="4800" baseline="8000"/>
              <a:t>FILE BASED SYSTEM VS DBMS</a:t>
            </a:r>
            <a:endParaRPr lang="en-US" sz="4800" baseline="8000"/>
          </a:p>
        </p:txBody>
      </p:sp>
      <p:sp>
        <p:nvSpPr>
          <p:cNvPr id="3" name="object 3"/>
          <p:cNvSpPr txBox="1"/>
          <p:nvPr/>
        </p:nvSpPr>
        <p:spPr>
          <a:xfrm>
            <a:off x="835025" y="2089768"/>
            <a:ext cx="8084184" cy="474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45535">
              <a:lnSpc>
                <a:spcPct val="150000"/>
              </a:lnSpc>
              <a:spcBef>
                <a:spcPts val="100"/>
              </a:spcBef>
            </a:pP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2400" y="465365"/>
            <a:ext cx="11658599" cy="906234"/>
          </a:xfrm>
          <a:prstGeom prst="rect">
            <a:avLst/>
          </a:prstGeom>
        </p:spPr>
      </p:pic>
      <p:graphicFrame>
        <p:nvGraphicFramePr>
          <p:cNvPr id="14" name="Table 13"/>
          <p:cNvGraphicFramePr/>
          <p:nvPr/>
        </p:nvGraphicFramePr>
        <p:xfrm>
          <a:off x="1771650" y="2286000"/>
          <a:ext cx="8591550" cy="3222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4350"/>
                <a:gridCol w="42672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File Based System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DBMS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/>
                      <a:r>
                        <a:rPr lang="en-US" altLang="zh-CN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Data stored in separate files</a:t>
                      </a:r>
                      <a:endParaRPr lang="en-US" altLang="zh-CN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Data stored in a centralized database</a:t>
                      </a:r>
                      <a:endParaRPr lang="en-US" altLang="zh-CN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448945">
                <a:tc>
                  <a:txBody>
                    <a:bodyPr/>
                    <a:p>
                      <a:pPr algn="l"/>
                      <a:r>
                        <a:rPr lang="en-US" altLang="zh-CN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High data redundancy</a:t>
                      </a:r>
                      <a:endParaRPr lang="en-US" altLang="zh-CN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/>
                      <a:r>
                        <a:rPr lang="en-US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Minimal Redudndancy</a:t>
                      </a:r>
                      <a:endParaRPr lang="en-US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4876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Difficult to share data</a:t>
                      </a:r>
                      <a:endParaRPr lang="en-US" altLang="en-US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lang="en-US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 Easy Data Sharing</a:t>
                      </a:r>
                      <a:endParaRPr lang="en-US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Limited security</a:t>
                      </a:r>
                      <a:endParaRPr lang="en-US" altLang="en-US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/>
                      <a:r>
                        <a:rPr lang="en-US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Strong Securit and Access Control</a:t>
                      </a:r>
                      <a:endParaRPr lang="en-US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Backup is manual</a:t>
                      </a:r>
                      <a:endParaRPr lang="en-US" alt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Automatic Bacup and recovery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Difficult maintenance</a:t>
                      </a:r>
                      <a:endParaRPr lang="en-US" alt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Easy maintentce and update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Slower data retrieval</a:t>
                      </a:r>
                      <a:endParaRPr lang="en-US" alt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Faster Query Process</a:t>
                      </a:r>
                      <a:endParaRPr lang="en-US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67000" y="1574672"/>
            <a:ext cx="571500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Banking Case study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672" y="2667183"/>
            <a:ext cx="4318635" cy="2526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2000" b="1">
                <a:latin typeface="Times New Roman" panose="02020603050405020304"/>
                <a:cs typeface="Times New Roman" panose="02020603050405020304"/>
              </a:rPr>
              <a:t>File-Based System</a:t>
            </a:r>
            <a:endParaRPr lang="en-US" altLang="en-US" sz="2000" b="1">
              <a:latin typeface="Times New Roman" panose="02020603050405020304"/>
              <a:cs typeface="Times New Roman" panose="02020603050405020304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Customer information stored in separate branch files.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Updating account details in one branch does not update other branches.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Duplicate customer records may exist.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Transactions take longer due to manual verification.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32575" y="2566670"/>
            <a:ext cx="4637405" cy="216344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74295" indent="0">
              <a:lnSpc>
                <a:spcPct val="100000"/>
              </a:lnSpc>
              <a:spcBef>
                <a:spcPts val="100"/>
              </a:spcBef>
              <a:buNone/>
              <a:tabLst>
                <a:tab pos="266700" algn="l"/>
              </a:tabLst>
            </a:pPr>
            <a:r>
              <a:rPr lang="en-US" altLang="en-US" sz="2000" b="1">
                <a:latin typeface="Times New Roman" panose="02020603050405020304"/>
                <a:cs typeface="Times New Roman" panose="02020603050405020304"/>
              </a:rPr>
              <a:t>DBMS</a:t>
            </a:r>
            <a:endParaRPr lang="en-US" altLang="en-US" sz="2000" b="1">
              <a:latin typeface="Times New Roman" panose="02020603050405020304"/>
              <a:cs typeface="Times New Roman" panose="02020603050405020304"/>
            </a:endParaRPr>
          </a:p>
          <a:p>
            <a:pPr marL="355600" marR="74295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All branches access one centralized database.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55600" marR="74295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Customer information is updated instantly.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55600" marR="74295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Real-time balance updates.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55600" marR="74295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Secure online banking and ATM services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4800" y="465365"/>
            <a:ext cx="11506199" cy="906234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68375" y="2208530"/>
            <a:ext cx="48228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Scenario: Customer Account Management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990600" y="5155565"/>
            <a:ext cx="8229600" cy="197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Result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Faster banking operations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Accurate customer records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Improved security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Better customer service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6800" y="1219200"/>
            <a:ext cx="9109075" cy="741680"/>
          </a:xfrm>
          <a:prstGeom prst="rect">
            <a:avLst/>
          </a:prstGeom>
        </p:spPr>
        <p:txBody>
          <a:bodyPr vert="horz" wrap="square" lIns="0" tIns="249653" rIns="0" bIns="0" rtlCol="0">
            <a:spAutoFit/>
          </a:bodyPr>
          <a:lstStyle/>
          <a:p>
            <a:pPr marL="1641475" algn="ctr">
              <a:lnSpc>
                <a:spcPct val="100000"/>
              </a:lnSpc>
              <a:spcBef>
                <a:spcPts val="100"/>
              </a:spcBef>
            </a:pPr>
            <a:r>
              <a:rPr lang="en-US" altLang="en-US" sz="3200" spc="-10" dirty="0"/>
              <a:t>Healthcare Case Study</a:t>
            </a:r>
            <a:endParaRPr lang="en-US" altLang="en-US" sz="3200"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33400" y="465365"/>
            <a:ext cx="11125199" cy="906234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914400" y="2590800"/>
            <a:ext cx="50596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File-Based System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Patient records stored on paper or separate computer files.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Doctors cannot easily access previous medical history.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Reports may be duplicated or misplaced.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Higher chance of errors.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29400" y="2590800"/>
            <a:ext cx="527304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DBMS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Electronic Health Records (EHR) stored in one database.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Doctors can instantly access patient history.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Lab reports and prescriptions are updated automatically.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Secure access for authorized medical staff.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40460" y="1976755"/>
            <a:ext cx="53365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Scenario: Hospital Patient Records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31215" y="4841240"/>
            <a:ext cx="7169785" cy="19685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Result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Faster diagnosis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Better patient care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Reduced paperwork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AutoNum type="arabicPeriod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Improved data accuracy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23490" y="1330226"/>
            <a:ext cx="6953884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</a:t>
            </a:r>
            <a:r>
              <a:rPr spc="-135" dirty="0"/>
              <a:t> 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640881" y="1806316"/>
            <a:ext cx="7915909" cy="324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Times New Roman" panose="02020603050405020304"/>
                <a:cs typeface="Times New Roman" panose="02020603050405020304"/>
              </a:rPr>
              <a:t>Key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Takeaways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 panose="05000000000000000000" charset="0"/>
              <a:buChar char="ü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File-based systems are suitable only for small applications.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 panose="05000000000000000000" charset="0"/>
              <a:buChar char="ü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DBMS eliminates data redundancy and inconsistency.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 panose="05000000000000000000" charset="0"/>
              <a:buChar char="ü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DBMS provides better security, backup, and recovery.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 panose="05000000000000000000" charset="0"/>
              <a:buChar char="ü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Banking and healthcare rely on DBMS for efficient and reliable data management.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 panose="05000000000000000000" charset="0"/>
              <a:buChar char="ü"/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Modern organizations prefer DBMS because it supports centralized, secure, and real-time data access.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1000" y="381000"/>
            <a:ext cx="11388256" cy="906234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804670" y="5420360"/>
            <a:ext cx="87871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i="1">
                <a:latin typeface="Times New Roman" panose="02020603050405020304" charset="0"/>
                <a:cs typeface="Times New Roman" panose="02020603050405020304" charset="0"/>
              </a:rPr>
              <a:t>"A DBMS transforms scattered data into organized, secure, and meaningful information, enabling smarter decisions and efficient operations."</a:t>
            </a:r>
            <a:endParaRPr lang="en-US" altLang="en-US" i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65975" y="2623185"/>
            <a:ext cx="564007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b="0" dirty="0">
                <a:latin typeface="Times New Roman" panose="02020603050405020304"/>
                <a:cs typeface="Times New Roman" panose="02020603050405020304"/>
              </a:rPr>
              <a:t>Thank </a:t>
            </a:r>
            <a:r>
              <a:rPr sz="8000" b="0" spc="-10" dirty="0">
                <a:latin typeface="Times New Roman" panose="02020603050405020304"/>
                <a:cs typeface="Times New Roman" panose="02020603050405020304"/>
              </a:rPr>
              <a:t>You!!!</a:t>
            </a:r>
            <a:endParaRPr sz="80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43"/>
            <a:ext cx="1103581" cy="13428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191643"/>
            <a:ext cx="1520061" cy="1342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2660</Words>
  <Application>WPS Presentation</Application>
  <PresentationFormat>On-screen Show (4:3)</PresentationFormat>
  <Paragraphs>118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Arial MT</vt:lpstr>
      <vt:lpstr>Lucida Sans Unicode</vt:lpstr>
      <vt:lpstr>Arial</vt:lpstr>
      <vt:lpstr>SimSun-ExtB</vt:lpstr>
      <vt:lpstr>Microsoft YaHei</vt:lpstr>
      <vt:lpstr>Arial Unicode MS</vt:lpstr>
      <vt:lpstr>Calibri</vt:lpstr>
      <vt:lpstr>Times New Roman</vt:lpstr>
      <vt:lpstr>Wingdings</vt:lpstr>
      <vt:lpstr>Office Theme</vt:lpstr>
      <vt:lpstr>PowerPoint 演示文稿</vt:lpstr>
      <vt:lpstr>Introduction</vt:lpstr>
      <vt:lpstr>Integration of IoT and ClCoudoCormeputTingechnical Explanation</vt:lpstr>
      <vt:lpstr>IoT-Cloud Architecture</vt:lpstr>
      <vt:lpstr>Limitations and Future Scope</vt:lpstr>
      <vt:lpstr>Conclusion and Key Takeaways</vt:lpstr>
      <vt:lpstr>Thank You!!!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BATHULA KARTHIK</cp:lastModifiedBy>
  <cp:revision>2</cp:revision>
  <dcterms:created xsi:type="dcterms:W3CDTF">2026-07-21T03:49:22Z</dcterms:created>
  <dcterms:modified xsi:type="dcterms:W3CDTF">2026-07-21T03:49:49Z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2026-07-21T05:30:00Z</vt:filetime>
  </property>
  <property fmtid="{D5CDD505-2E9C-101B-9397-08002B2CF9AE}" pid="4" name="Creator">
    <vt:lpwstr>Google</vt:lpwstr>
  </property>
  <property fmtid="{D5CDD505-2E9C-101B-9397-08002B2CF9AE}" pid="5" name="LastSaved">
    <vt:filetime>2026-07-21T05:30:00Z</vt:filetime>
  </property>
  <property fmtid="{D5CDD505-2E9C-101B-9397-08002B2CF9AE}" pid="6" name="KSOProductBuildVer">
    <vt:lpwstr>1033-12.1.0.27458</vt:lpwstr>
  </property>
  <property fmtid="{D5CDD505-2E9C-101B-9397-08002B2CF9AE}" pid="7" name="ICV">
    <vt:lpwstr>EEBD6B0424E344968651D8452DA47E43_13</vt:lpwstr>
  </property>
</Properties>
</file>